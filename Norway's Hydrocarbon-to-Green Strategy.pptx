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447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42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564626"/>
            <a:ext cx="10566400" cy="4480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42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447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42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564626"/>
            <a:ext cx="10566400" cy="4480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42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089186"/>
            <a:ext cx="10883392" cy="274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08A73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GEOPOLITICAL RISK AND ENERGY POLICY CASE STUDY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541299"/>
            <a:ext cx="10883392" cy="13055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800" b="1" i="0" dirty="0">
                <a:solidFill>
                  <a:srgbClr val="F5F3E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Norway's Hydrocarbon-to-Green Strategy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12800" y="4024601"/>
            <a:ext cx="10883392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000" dirty="0">
                <a:solidFill>
                  <a:srgbClr val="C9D3D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Sovereign wealth, carbon capture, and the energy security paradox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12800" y="4519901"/>
            <a:ext cx="10883392" cy="274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9D3D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Scope 1969 to 2025 | Norwegian Continental Shelf and EU energy system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2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Executive summary</a:t>
            </a:r>
            <a:endParaRPr lang="en-US" sz="3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4345" y="1576172"/>
          <a:ext cx="10554855" cy="3440762"/>
        </p:xfrm>
        <a:graphic>
          <a:graphicData uri="http://schemas.openxmlformats.org/drawingml/2006/table">
            <a:tbl>
              <a:tblPr/>
              <a:tblGrid>
                <a:gridCol w="5277427"/>
                <a:gridCol w="5277427"/>
              </a:tblGrid>
              <a:tr h="3848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421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Key pillar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1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421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Metrics and current status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1DC"/>
                    </a:solidFill>
                  </a:tcPr>
                </a:tc>
              </a:tr>
              <a:tr h="3848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Sovereign wealth (GPFG)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~US$1.7-2.0T; ~1.5% of global listed equities; 3% fiscal rule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8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State execution (Equinor)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~67% state-owned; 78% marginal petroleum tax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3773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CCS infrastructure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Longship ~NOK 25B (~2/3 state-funded); Northern Lights 1.5 to ~5 Mtpa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8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Energy security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~30% of EU gas demand after 2022; ~120 bcm output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3773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Climate mandate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At least 55% cut by 2030 vs. 1990; carbon price toward NOK 2,000/t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3773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Core risk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Downstream emissions litigation; Barents licensing; stranded assets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5321733"/>
            <a:ext cx="10883392" cy="274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F6F8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Fossil rent is recycled into diversified capital and state-anchored green infrastructure.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2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The sovereign wealth engine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800" y="1564625"/>
            <a:ext cx="1991338" cy="163202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812800" y="1583675"/>
            <a:ext cx="1991338" cy="0"/>
          </a:xfrm>
          <a:prstGeom prst="line">
            <a:avLst/>
          </a:prstGeom>
          <a:noFill/>
          <a:ln w="38100">
            <a:solidFill>
              <a:srgbClr val="C855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16000" y="1804772"/>
            <a:ext cx="1635738" cy="3911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C8553D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1969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16000" y="2246709"/>
            <a:ext cx="1635738" cy="7721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4212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Ekofisk discovery opens the petroleum era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956539" y="1564625"/>
            <a:ext cx="1991375" cy="163202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2956539" y="1583675"/>
            <a:ext cx="1991375" cy="0"/>
          </a:xfrm>
          <a:prstGeom prst="line">
            <a:avLst/>
          </a:prstGeom>
          <a:noFill/>
          <a:ln w="38100">
            <a:solidFill>
              <a:srgbClr val="C855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59739" y="1804772"/>
            <a:ext cx="1635774" cy="3911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C8553D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1990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159739" y="2246709"/>
            <a:ext cx="1635774" cy="7721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4212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GPFG legislated; first deposit in 1996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100313" y="1564625"/>
            <a:ext cx="1991338" cy="163202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5100313" y="1583675"/>
            <a:ext cx="1991338" cy="0"/>
          </a:xfrm>
          <a:prstGeom prst="line">
            <a:avLst/>
          </a:prstGeom>
          <a:noFill/>
          <a:ln w="38100">
            <a:solidFill>
              <a:srgbClr val="C855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13" y="1804772"/>
            <a:ext cx="1635738" cy="3911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C8553D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2001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303513" y="2246709"/>
            <a:ext cx="1635738" cy="7721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4212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Fiscal rule: spend only expected real return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244052" y="1564625"/>
            <a:ext cx="1991375" cy="163202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7244052" y="1583675"/>
            <a:ext cx="1991375" cy="0"/>
          </a:xfrm>
          <a:prstGeom prst="line">
            <a:avLst/>
          </a:prstGeom>
          <a:noFill/>
          <a:ln w="38100">
            <a:solidFill>
              <a:srgbClr val="C855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47252" y="1804772"/>
            <a:ext cx="1635774" cy="3911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C8553D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2017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7447252" y="2246709"/>
            <a:ext cx="1635774" cy="5232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4212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Rule rate cut from 4% to 3%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387826" y="1564625"/>
            <a:ext cx="1991375" cy="163202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9387826" y="1583675"/>
            <a:ext cx="1991375" cy="0"/>
          </a:xfrm>
          <a:prstGeom prst="line">
            <a:avLst/>
          </a:prstGeom>
          <a:noFill/>
          <a:ln w="38100">
            <a:solidFill>
              <a:srgbClr val="C855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91026" y="1804772"/>
            <a:ext cx="1635774" cy="3911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C8553D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2022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9591026" y="2246709"/>
            <a:ext cx="1635774" cy="7721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4212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Record inflows; fund near NOK 20T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12800" y="3501448"/>
            <a:ext cx="10883392" cy="594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F6F8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Dutch Disease firewall:</a:t>
            </a:r>
            <a:r>
              <a:rPr lang="en-US" sz="1600" dirty="0">
                <a:solidFill>
                  <a:srgbClr val="2F6F8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 foreign-only investment, a binding fiscal rule, and state capture of rent through the 78% tax regime.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2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Carbon capture: the reverse-royalty model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800" y="1564627"/>
            <a:ext cx="2222500" cy="1681415"/>
          </a:xfrm>
          <a:prstGeom prst="rect">
            <a:avLst/>
          </a:prstGeom>
          <a:solidFill>
            <a:srgbClr val="14212B"/>
          </a:solidFill>
          <a:ln/>
        </p:spPr>
      </p:sp>
      <p:sp>
        <p:nvSpPr>
          <p:cNvPr id="4" name="Text 2"/>
          <p:cNvSpPr/>
          <p:nvPr/>
        </p:nvSpPr>
        <p:spPr>
          <a:xfrm>
            <a:off x="1016000" y="1767827"/>
            <a:ext cx="1870583" cy="2997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E08A73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Emitter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16000" y="2118339"/>
            <a:ext cx="1870583" cy="949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5F3E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Cement and waste-to-energy plants capture CO2 with state-matured technology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136900" y="2156403"/>
            <a:ext cx="426720" cy="5232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dirty="0">
                <a:solidFill>
                  <a:srgbClr val="C8553D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→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594100" y="1564627"/>
            <a:ext cx="2222500" cy="1681415"/>
          </a:xfrm>
          <a:prstGeom prst="rect">
            <a:avLst/>
          </a:prstGeom>
          <a:solidFill>
            <a:srgbClr val="14212B"/>
          </a:solidFill>
          <a:ln/>
        </p:spPr>
      </p:sp>
      <p:sp>
        <p:nvSpPr>
          <p:cNvPr id="8" name="Text 6"/>
          <p:cNvSpPr/>
          <p:nvPr/>
        </p:nvSpPr>
        <p:spPr>
          <a:xfrm>
            <a:off x="3797300" y="1767827"/>
            <a:ext cx="1870583" cy="2997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E08A73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Transport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797300" y="2118339"/>
            <a:ext cx="1870583" cy="4876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5F3E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Liquefied CO2 shipped by Northern Lights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18200" y="2156403"/>
            <a:ext cx="426720" cy="5232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dirty="0">
                <a:solidFill>
                  <a:srgbClr val="C8553D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→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6375400" y="1564627"/>
            <a:ext cx="2222500" cy="1681415"/>
          </a:xfrm>
          <a:prstGeom prst="rect">
            <a:avLst/>
          </a:prstGeom>
          <a:solidFill>
            <a:srgbClr val="14212B"/>
          </a:solidFill>
          <a:ln/>
        </p:spPr>
      </p:sp>
      <p:sp>
        <p:nvSpPr>
          <p:cNvPr id="12" name="Text 10"/>
          <p:cNvSpPr/>
          <p:nvPr/>
        </p:nvSpPr>
        <p:spPr>
          <a:xfrm>
            <a:off x="6578600" y="1767827"/>
            <a:ext cx="1870583" cy="2997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E08A73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Storage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78600" y="2118339"/>
            <a:ext cx="1870583" cy="718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5F3E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Offshore reservoir; tariff anchored by the carbon price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699500" y="2156403"/>
            <a:ext cx="426720" cy="5232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dirty="0">
                <a:solidFill>
                  <a:srgbClr val="C8553D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→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9156700" y="1564627"/>
            <a:ext cx="2222500" cy="1681415"/>
          </a:xfrm>
          <a:prstGeom prst="rect">
            <a:avLst/>
          </a:prstGeom>
          <a:solidFill>
            <a:srgbClr val="14212B"/>
          </a:solidFill>
          <a:ln/>
        </p:spPr>
      </p:sp>
      <p:sp>
        <p:nvSpPr>
          <p:cNvPr id="16" name="Text 14"/>
          <p:cNvSpPr/>
          <p:nvPr/>
        </p:nvSpPr>
        <p:spPr>
          <a:xfrm>
            <a:off x="9359900" y="1767827"/>
            <a:ext cx="1870583" cy="2997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E08A73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Value capture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359900" y="2118339"/>
            <a:ext cx="1870583" cy="718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5F3E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Tariff income to infrastructure owners, not patent royalties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12800" y="3550841"/>
            <a:ext cx="10883392" cy="594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F6F8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The state pays about two-thirds of Longship capex up front, then controls the scarce storage corridor. Risk: fiscal exposure if carbon prices or volumes fall.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2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The energy emergency matrix</a:t>
            </a:r>
            <a:endParaRPr lang="en-US" sz="3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4345" y="1576172"/>
          <a:ext cx="10554855" cy="2380312"/>
        </p:xfrm>
        <a:graphic>
          <a:graphicData uri="http://schemas.openxmlformats.org/drawingml/2006/table">
            <a:tbl>
              <a:tblPr/>
              <a:tblGrid>
                <a:gridCol w="3518285"/>
                <a:gridCol w="3518285"/>
                <a:gridCol w="3518285"/>
              </a:tblGrid>
              <a:tr h="358198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421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Dimension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1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421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Strategic gain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1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421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Strategic risk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1DC"/>
                    </a:solidFill>
                  </a:tcPr>
                </a:tc>
              </a:tr>
              <a:tr h="589323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EU supply security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~30% of EU gas; stabilizer after Russian decoupling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Single-supplier concentration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8198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Fiscal position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Record state cash flow and fund inflows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2022 paper loss of ~14%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8198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Climate credibility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At least 55% domestic cut; EVs; CCS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Exported emissions exceed domestic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8198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Barents expansion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Johan Castberg online in 2025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2024 court ruling; 2025 EFTA opinion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8198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Long-term demand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Security premium to ~2030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2B"/>
                          </a:solidFill>
                          <a:latin typeface="Georgia" pitchFamily="18" charset="0"/>
                          <a:ea typeface="Georgia" pitchFamily="18" charset="-122"/>
                          <a:cs typeface="Georgia" pitchFamily="18" charset="-120"/>
                        </a:rPr>
                        <a:t>Stranded assets if demand falls fast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4261284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C8553D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Verdict:</a:t>
            </a:r>
            <a:r>
              <a:rPr lang="en-US" sz="1500" dirty="0">
                <a:solidFill>
                  <a:srgbClr val="C8553D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 coherent as a managed transition; weakest where new licensing is framed as climate-neutral.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2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Strategic recommendations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800" y="1564627"/>
            <a:ext cx="10566400" cy="98042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838200" y="1564627"/>
            <a:ext cx="0" cy="980426"/>
          </a:xfrm>
          <a:prstGeom prst="line">
            <a:avLst/>
          </a:prstGeom>
          <a:noFill/>
          <a:ln w="50800">
            <a:solidFill>
              <a:srgbClr val="C855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6800" y="1767827"/>
            <a:ext cx="306748" cy="574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C8553D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525624" y="1767827"/>
            <a:ext cx="8307661" cy="2997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2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Legislate the firewall before the windfall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25624" y="2092939"/>
            <a:ext cx="9678829" cy="274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4212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Sovereign fund, binding fiscal rule, offshore-only investment. Spend the yield, never the inflow.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12800" y="2849851"/>
            <a:ext cx="10566400" cy="98042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838200" y="2849851"/>
            <a:ext cx="0" cy="980426"/>
          </a:xfrm>
          <a:prstGeom prst="line">
            <a:avLst/>
          </a:prstGeom>
          <a:noFill/>
          <a:ln w="50800">
            <a:solidFill>
              <a:srgbClr val="C855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6800" y="3053051"/>
            <a:ext cx="306748" cy="574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C8553D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2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1525624" y="3053051"/>
            <a:ext cx="9915361" cy="2997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2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Capture rent, then own the scarce asset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525624" y="3378166"/>
            <a:ext cx="9915361" cy="274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4212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High resource-rent taxation reinvested in CCS corridors, grid and storage, with a carbon price anchoring demand.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2800" y="4135078"/>
            <a:ext cx="10566400" cy="122933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838200" y="4135078"/>
            <a:ext cx="0" cy="1229338"/>
          </a:xfrm>
          <a:prstGeom prst="line">
            <a:avLst/>
          </a:prstGeom>
          <a:noFill/>
          <a:ln w="50800">
            <a:solidFill>
              <a:srgbClr val="C855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66800" y="4338278"/>
            <a:ext cx="282034" cy="574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C8553D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3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1501234" y="4338278"/>
            <a:ext cx="9965010" cy="2997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2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Sequence the transition with legal clarity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01234" y="4663390"/>
            <a:ext cx="9965010" cy="5232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4212B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Separate security-driven supply from long-term expansion; adopt full-lifecycle emissions assessment before litigation forces it.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orway's Hydrocarbon-to-Green Strategy">
  <a:themeElements>
    <a:clrScheme name="Norway's Hydrocarbon-to-Green Strategy">
      <a:dk1>
        <a:srgbClr val="14212B"/>
      </a:dk1>
      <a:lt1>
        <a:srgbClr val="F5F3EE"/>
      </a:lt1>
      <a:dk2>
        <a:srgbClr val="4C565C"/>
      </a:dk2>
      <a:lt2>
        <a:srgbClr val="DFDEDB"/>
      </a:lt2>
      <a:accent1>
        <a:srgbClr val="C8553D"/>
      </a:accent1>
      <a:accent2>
        <a:srgbClr val="E08A73"/>
      </a:accent2>
      <a:accent3>
        <a:srgbClr val="2F6F8F"/>
      </a:accent3>
      <a:accent4>
        <a:srgbClr val="C9D3DA"/>
      </a:accent4>
      <a:accent5>
        <a:srgbClr val="9AA0A6"/>
      </a:accent5>
      <a:accent6>
        <a:srgbClr val="6E7579"/>
      </a:accent6>
      <a:hlink>
        <a:srgbClr val="0563C1"/>
      </a:hlink>
      <a:folHlink>
        <a:srgbClr val="954F72"/>
      </a:folHlink>
    </a:clrScheme>
    <a:fontScheme name="Norway's Hydrocarbon-to-Green Strategy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Georgi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Norway's Hydrocarbon-to-Green Strategy</dc:title>
  <dc:subject/>
  <dc:creator/>
  <cp:lastModifiedBy/>
  <cp:revision>1</cp:revision>
  <dcterms:created xsi:type="dcterms:W3CDTF">2026-10-08T09:53:09Z</dcterms:created>
  <dcterms:modified xsi:type="dcterms:W3CDTF">2026-10-08T09:53:09Z</dcterms:modified>
</cp:coreProperties>
</file>